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164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652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43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73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90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647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213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11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510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898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20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F5B8F-A859-40E3-B07C-8603E1DBCB96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AEA6D-610C-46B2-A317-2151312F9D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621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ndo Visualizar Codificación Y Programación Con Partes De Código Simbólico  Representadas En Una Pantalla De Computadora para Power Point y  Diapositivas - Slidesdo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Sistema de Registro para Emisión de Certificados de Alumno Regular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085615"/>
            <a:ext cx="9144000" cy="1655762"/>
          </a:xfrm>
        </p:spPr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García Débora Lucila</a:t>
            </a:r>
            <a:endParaRPr lang="es-ES" dirty="0">
              <a:solidFill>
                <a:schemeClr val="bg1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1524000" y="3666391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37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42"/>
            <a:ext cx="12192000" cy="6858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Contexto del Proyecto 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964723" cy="4351338"/>
          </a:xfrm>
        </p:spPr>
        <p:txBody>
          <a:bodyPr>
            <a:normAutofit/>
          </a:bodyPr>
          <a:lstStyle/>
          <a:p>
            <a:r>
              <a:rPr lang="es-ES" sz="2000" dirty="0" smtClean="0">
                <a:solidFill>
                  <a:schemeClr val="bg1"/>
                </a:solidFill>
              </a:rPr>
              <a:t>Inconsistencia en los datos de origen: Con frecuencia, los solicitantes no recuerdan con precisión el año exacto en que egresaron o interrumpieron sus estudios.</a:t>
            </a:r>
          </a:p>
          <a:p>
            <a:r>
              <a:rPr lang="es-ES" sz="2000" dirty="0" smtClean="0">
                <a:solidFill>
                  <a:schemeClr val="bg1"/>
                </a:solidFill>
              </a:rPr>
              <a:t>Procesos manuales ineficientes: Al no contar con un sistema centralizado, el personal directivo se ve obligado a revisar de manera manual, hoja por hoja, el registro académico de los ex estudiantes.</a:t>
            </a:r>
          </a:p>
          <a:p>
            <a:r>
              <a:rPr lang="es-ES" sz="2000" dirty="0" smtClean="0">
                <a:solidFill>
                  <a:schemeClr val="bg1"/>
                </a:solidFill>
              </a:rPr>
              <a:t>Tiempos de espera prolongados: La combinación de los factores anteriores deriva en una excesiva demora para la localización de la información y la posterior emisión del documento solicitado.</a:t>
            </a:r>
            <a:endParaRPr lang="es-ES" sz="2000" dirty="0">
              <a:solidFill>
                <a:schemeClr val="bg1"/>
              </a:solidFill>
            </a:endParaRPr>
          </a:p>
        </p:txBody>
      </p:sp>
      <p:pic>
        <p:nvPicPr>
          <p:cNvPr id="2052" name="Picture 4" descr="No hay ninguna descripción de la foto disponible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324" y="2426677"/>
            <a:ext cx="5598636" cy="314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6"/>
          <p:cNvCxnSpPr/>
          <p:nvPr/>
        </p:nvCxnSpPr>
        <p:spPr>
          <a:xfrm>
            <a:off x="837143" y="1349631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08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Objetivos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Objetivo General</a:t>
            </a:r>
            <a:r>
              <a:rPr lang="es-ES" b="1" dirty="0" smtClean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Implementar una base de datos centralizada que permita localizar la información de exalumnos de forma inmediata para agilizar la emisión de certificados de alumno regular</a:t>
            </a:r>
            <a:r>
              <a:rPr lang="es-ES" dirty="0" smtClean="0">
                <a:solidFill>
                  <a:schemeClr val="bg1"/>
                </a:solidFill>
              </a:rPr>
              <a:t>.</a:t>
            </a:r>
            <a:endParaRPr lang="es-ES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b="1" dirty="0" smtClean="0">
                <a:solidFill>
                  <a:schemeClr val="bg1"/>
                </a:solidFill>
              </a:rPr>
              <a:t>Objetivos Específicos:</a:t>
            </a:r>
          </a:p>
          <a:p>
            <a:pPr marL="0" indent="0">
              <a:buNone/>
            </a:pPr>
            <a:r>
              <a:rPr lang="es-ES" dirty="0" smtClean="0">
                <a:solidFill>
                  <a:schemeClr val="bg1"/>
                </a:solidFill>
              </a:rPr>
              <a:t>•Optimizar la búsqueda de datos académicos mediante el uso del número de DNI como filtro principal.</a:t>
            </a:r>
          </a:p>
          <a:p>
            <a:pPr marL="0" indent="0">
              <a:buNone/>
            </a:pPr>
            <a:r>
              <a:rPr lang="es-ES" dirty="0" smtClean="0">
                <a:solidFill>
                  <a:schemeClr val="bg1"/>
                </a:solidFill>
              </a:rPr>
              <a:t>•Automatizar el despliegue de información de clave (nombre y apellido, año de egreso o que dejo de asistir, nivel educativo alcanzado y su estado administrativo final) para evitar la carga manual de datos existente.</a:t>
            </a:r>
          </a:p>
          <a:p>
            <a:pPr marL="0" indent="0">
              <a:buNone/>
            </a:pPr>
            <a:r>
              <a:rPr lang="es-ES" dirty="0" smtClean="0">
                <a:solidFill>
                  <a:schemeClr val="bg1"/>
                </a:solidFill>
              </a:rPr>
              <a:t>•Digitalizar la generación de certificados para facilitar su impresión inmediata o envío por medios digitales.</a:t>
            </a:r>
          </a:p>
          <a:p>
            <a:pPr marL="0" indent="0">
              <a:buNone/>
            </a:pPr>
            <a:endParaRPr lang="es-ES" dirty="0"/>
          </a:p>
        </p:txBody>
      </p:sp>
      <p:cxnSp>
        <p:nvCxnSpPr>
          <p:cNvPr id="6" name="Conector recto 5"/>
          <p:cNvCxnSpPr/>
          <p:nvPr/>
        </p:nvCxnSpPr>
        <p:spPr>
          <a:xfrm>
            <a:off x="838200" y="1345222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87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ndo Visualizar Codificación Y Programación Con Partes De Código Simbólico  Representadas En Una Pantalla De Computadora para Power Point y  Diapositivas - Slidesdo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Límite del programa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Ausencia de automatización de documentos externos: no realizara firmas.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No es un sistema de gestión en tiempo real: No registrará las calificaciones parciales.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Restricción de acceso (Sin autogestión): software será de uso interno </a:t>
            </a:r>
            <a:endParaRPr lang="es-ES" dirty="0">
              <a:solidFill>
                <a:schemeClr val="bg1"/>
              </a:solidFill>
            </a:endParaRPr>
          </a:p>
        </p:txBody>
      </p:sp>
      <p:cxnSp>
        <p:nvCxnSpPr>
          <p:cNvPr id="7" name="Conector recto 6"/>
          <p:cNvCxnSpPr/>
          <p:nvPr/>
        </p:nvCxnSpPr>
        <p:spPr>
          <a:xfrm>
            <a:off x="838200" y="1459521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05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ondo Visualizar Codificación Y Programación Con Partes De Código Simbólico  Representadas En Una Pantalla De Computadora para Power Point y  Diapositivas - Slidesdo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Evaluación de Viabilidad Técnica y Arquitectura del Sistema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¿Cómo funcionará el sistema</a:t>
            </a:r>
            <a:r>
              <a:rPr lang="es-ES" dirty="0" smtClean="0">
                <a:solidFill>
                  <a:schemeClr val="bg1"/>
                </a:solidFill>
              </a:rPr>
              <a:t>?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El </a:t>
            </a:r>
            <a:r>
              <a:rPr lang="es-ES" dirty="0">
                <a:solidFill>
                  <a:schemeClr val="bg1"/>
                </a:solidFill>
              </a:rPr>
              <a:t>verdadero desafío: Los </a:t>
            </a:r>
            <a:r>
              <a:rPr lang="es-ES" dirty="0" smtClean="0">
                <a:solidFill>
                  <a:schemeClr val="bg1"/>
                </a:solidFill>
              </a:rPr>
              <a:t>Datos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Complejidad </a:t>
            </a:r>
            <a:r>
              <a:rPr lang="es-ES" dirty="0">
                <a:solidFill>
                  <a:schemeClr val="bg1"/>
                </a:solidFill>
              </a:rPr>
              <a:t>Global: Baja </a:t>
            </a:r>
            <a:r>
              <a:rPr lang="es-ES" dirty="0" smtClean="0">
                <a:solidFill>
                  <a:schemeClr val="bg1"/>
                </a:solidFill>
              </a:rPr>
              <a:t>– Media</a:t>
            </a:r>
          </a:p>
        </p:txBody>
      </p:sp>
      <p:cxnSp>
        <p:nvCxnSpPr>
          <p:cNvPr id="6" name="Conector recto 5"/>
          <p:cNvCxnSpPr/>
          <p:nvPr/>
        </p:nvCxnSpPr>
        <p:spPr>
          <a:xfrm>
            <a:off x="838200" y="1690688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04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ondo Visualizar Codificación Y Programación Con Partes De Código Simbólico  Representadas En Una Pantalla De Computadora para Power Point y  Diapositivas - Slidesdo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Análisis de Viabilidad Operativa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Perfil del Usuario y </a:t>
            </a:r>
            <a:r>
              <a:rPr lang="es-ES" dirty="0">
                <a:solidFill>
                  <a:schemeClr val="bg1"/>
                </a:solidFill>
              </a:rPr>
              <a:t>Diseño: entorno visual intuitivo, accesible y sin barreras técnicas.</a:t>
            </a:r>
            <a:endParaRPr lang="es-ES" dirty="0" smtClean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Capacitación y Transición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Beneficios Clave del Sistema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Ahorro de tiempo: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Cero errores: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Modernización: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dirty="0">
              <a:solidFill>
                <a:schemeClr val="bg1"/>
              </a:solidFill>
            </a:endParaRPr>
          </a:p>
        </p:txBody>
      </p:sp>
      <p:cxnSp>
        <p:nvCxnSpPr>
          <p:cNvPr id="7" name="Conector recto 6"/>
          <p:cNvCxnSpPr/>
          <p:nvPr/>
        </p:nvCxnSpPr>
        <p:spPr>
          <a:xfrm>
            <a:off x="838200" y="1424353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8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Estudio de Factibilidad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Solución a una Problemática Universal: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Modelo de Fácil Replicación: </a:t>
            </a:r>
          </a:p>
          <a:p>
            <a:endParaRPr lang="es-ES" dirty="0"/>
          </a:p>
        </p:txBody>
      </p:sp>
      <p:cxnSp>
        <p:nvCxnSpPr>
          <p:cNvPr id="6" name="Conector recto 5"/>
          <p:cNvCxnSpPr/>
          <p:nvPr/>
        </p:nvCxnSpPr>
        <p:spPr>
          <a:xfrm>
            <a:off x="837143" y="1538652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97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Beneficios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Beneficios Operativos y Técnicos</a:t>
            </a:r>
            <a:r>
              <a:rPr lang="es-ES" dirty="0" smtClean="0">
                <a:solidFill>
                  <a:schemeClr val="bg1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Consultas </a:t>
            </a:r>
            <a:r>
              <a:rPr lang="es-ES" dirty="0">
                <a:solidFill>
                  <a:schemeClr val="bg1"/>
                </a:solidFill>
              </a:rPr>
              <a:t>automáticas (o Automatización de consultas</a:t>
            </a:r>
            <a:r>
              <a:rPr lang="es-ES" dirty="0" smtClean="0">
                <a:solidFill>
                  <a:schemeClr val="bg1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Menos </a:t>
            </a:r>
            <a:r>
              <a:rPr lang="es-ES" dirty="0">
                <a:solidFill>
                  <a:schemeClr val="bg1"/>
                </a:solidFill>
              </a:rPr>
              <a:t>riesgo de errores </a:t>
            </a:r>
            <a:r>
              <a:rPr lang="es-ES" dirty="0" smtClean="0">
                <a:solidFill>
                  <a:schemeClr val="bg1"/>
                </a:solidFill>
              </a:rPr>
              <a:t>humanos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Código </a:t>
            </a:r>
            <a:r>
              <a:rPr lang="es-ES" dirty="0">
                <a:solidFill>
                  <a:schemeClr val="bg1"/>
                </a:solidFill>
              </a:rPr>
              <a:t>más simple y fácil de </a:t>
            </a:r>
            <a:r>
              <a:rPr lang="es-ES" dirty="0" smtClean="0">
                <a:solidFill>
                  <a:schemeClr val="bg1"/>
                </a:solidFill>
              </a:rPr>
              <a:t>mantener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Beneficios </a:t>
            </a:r>
            <a:r>
              <a:rPr lang="es-ES" dirty="0">
                <a:solidFill>
                  <a:schemeClr val="bg1"/>
                </a:solidFill>
              </a:rPr>
              <a:t>de Gestión e Institucionales</a:t>
            </a:r>
            <a:r>
              <a:rPr lang="es-ES" dirty="0" smtClean="0">
                <a:solidFill>
                  <a:schemeClr val="bg1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Mejor </a:t>
            </a:r>
            <a:r>
              <a:rPr lang="es-ES" dirty="0">
                <a:solidFill>
                  <a:schemeClr val="bg1"/>
                </a:solidFill>
              </a:rPr>
              <a:t>ambiente de trabajo y menos </a:t>
            </a:r>
            <a:r>
              <a:rPr lang="es-ES" dirty="0" smtClean="0">
                <a:solidFill>
                  <a:schemeClr val="bg1"/>
                </a:solidFill>
              </a:rPr>
              <a:t>conflictos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Adaptabilidad </a:t>
            </a:r>
            <a:r>
              <a:rPr lang="es-ES" dirty="0">
                <a:solidFill>
                  <a:schemeClr val="bg1"/>
                </a:solidFill>
              </a:rPr>
              <a:t>y flexibilidad del </a:t>
            </a:r>
            <a:r>
              <a:rPr lang="es-ES" dirty="0" smtClean="0">
                <a:solidFill>
                  <a:schemeClr val="bg1"/>
                </a:solidFill>
              </a:rPr>
              <a:t>sistema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Beneficios </a:t>
            </a:r>
            <a:r>
              <a:rPr lang="es-ES" dirty="0">
                <a:solidFill>
                  <a:schemeClr val="bg1"/>
                </a:solidFill>
              </a:rPr>
              <a:t>Económicos y de Infraestructura</a:t>
            </a:r>
            <a:r>
              <a:rPr lang="es-ES" dirty="0" smtClean="0">
                <a:solidFill>
                  <a:schemeClr val="bg1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smtClean="0">
                <a:solidFill>
                  <a:schemeClr val="bg1"/>
                </a:solidFill>
              </a:rPr>
              <a:t>Máximo </a:t>
            </a:r>
            <a:r>
              <a:rPr lang="es-ES" dirty="0">
                <a:solidFill>
                  <a:schemeClr val="bg1"/>
                </a:solidFill>
              </a:rPr>
              <a:t>aprovechamiento de la tecnología actual</a:t>
            </a:r>
            <a:endParaRPr lang="es-ES" dirty="0" smtClean="0">
              <a:solidFill>
                <a:schemeClr val="bg1"/>
              </a:solidFill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838200" y="1618688"/>
            <a:ext cx="9144000" cy="7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53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" y="-36005"/>
            <a:ext cx="12256008" cy="689400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-64008" y="-36005"/>
            <a:ext cx="12256008" cy="689400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Presupuesto</a:t>
            </a:r>
            <a:endParaRPr lang="es-ES" dirty="0">
              <a:solidFill>
                <a:schemeClr val="bg1"/>
              </a:solidFill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042227"/>
              </p:ext>
            </p:extLst>
          </p:nvPr>
        </p:nvGraphicFramePr>
        <p:xfrm>
          <a:off x="274320" y="1690687"/>
          <a:ext cx="11804904" cy="497789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946990">
                  <a:extLst>
                    <a:ext uri="{9D8B030D-6E8A-4147-A177-3AD203B41FA5}">
                      <a16:colId xmlns:a16="http://schemas.microsoft.com/office/drawing/2014/main" val="2766479542"/>
                    </a:ext>
                  </a:extLst>
                </a:gridCol>
                <a:gridCol w="5069621">
                  <a:extLst>
                    <a:ext uri="{9D8B030D-6E8A-4147-A177-3AD203B41FA5}">
                      <a16:colId xmlns:a16="http://schemas.microsoft.com/office/drawing/2014/main" val="4011212802"/>
                    </a:ext>
                  </a:extLst>
                </a:gridCol>
                <a:gridCol w="2788293">
                  <a:extLst>
                    <a:ext uri="{9D8B030D-6E8A-4147-A177-3AD203B41FA5}">
                      <a16:colId xmlns:a16="http://schemas.microsoft.com/office/drawing/2014/main" val="2276186034"/>
                    </a:ext>
                  </a:extLst>
                </a:gridCol>
              </a:tblGrid>
              <a:tr h="68180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Categoría de Costo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1123" marT="71123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Detalle del Ítem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71123" marT="71123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Costo Estimado (en Pesos Argentinos)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0" marT="71123" marB="94831" anchor="ctr"/>
                </a:tc>
                <a:extLst>
                  <a:ext uri="{0D108BD9-81ED-4DB2-BD59-A6C34878D82A}">
                    <a16:rowId xmlns:a16="http://schemas.microsoft.com/office/drawing/2014/main" val="1545196689"/>
                  </a:ext>
                </a:extLst>
              </a:tr>
              <a:tr h="10860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200" dirty="0">
                          <a:effectLst/>
                        </a:rPr>
                        <a:t>Costos de Desarrollo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Diseño de la arquitectura de la base de datos , programación del motor de búsqueda y desarrollo de la interfaz gráfica.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$540.000 ARS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0" marT="94831" marB="94831" anchor="ctr"/>
                </a:tc>
                <a:extLst>
                  <a:ext uri="{0D108BD9-81ED-4DB2-BD59-A6C34878D82A}">
                    <a16:rowId xmlns:a16="http://schemas.microsoft.com/office/drawing/2014/main" val="4021666047"/>
                  </a:ext>
                </a:extLst>
              </a:tr>
              <a:tr h="96004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200" dirty="0">
                          <a:effectLst/>
                        </a:rPr>
                        <a:t>Costos de Implementación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Trabajo operativo de digitalización, ordenamiento y transcripción manual de las actas escolares en papel desde 2011.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</a:rPr>
                        <a:t>$337.500 ARS</a:t>
                      </a:r>
                      <a:endParaRPr lang="es-ES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0" marT="94831" marB="94831" anchor="ctr"/>
                </a:tc>
                <a:extLst>
                  <a:ext uri="{0D108BD9-81ED-4DB2-BD59-A6C34878D82A}">
                    <a16:rowId xmlns:a16="http://schemas.microsoft.com/office/drawing/2014/main" val="2347763661"/>
                  </a:ext>
                </a:extLst>
              </a:tr>
              <a:tr h="10860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200" dirty="0">
                          <a:effectLst/>
                        </a:rPr>
                        <a:t>Hardware e Infraestructura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Adquisición de una unidad de almacenamiento físico (Disco Sólido SSD Externo de 1TB) para el resguardo de datos local.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$94.500 ARS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0" marT="94831" marB="94831" anchor="ctr"/>
                </a:tc>
                <a:extLst>
                  <a:ext uri="{0D108BD9-81ED-4DB2-BD59-A6C34878D82A}">
                    <a16:rowId xmlns:a16="http://schemas.microsoft.com/office/drawing/2014/main" val="1330416211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200" dirty="0">
                          <a:effectLst/>
                        </a:rPr>
                        <a:t>TOTAL INVERSIÓN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1123" marT="94831" marB="948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$972.000 ARS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0" marT="94831" marB="94831" anchor="ctr"/>
                </a:tc>
                <a:extLst>
                  <a:ext uri="{0D108BD9-81ED-4DB2-BD59-A6C34878D82A}">
                    <a16:rowId xmlns:a16="http://schemas.microsoft.com/office/drawing/2014/main" val="1349466639"/>
                  </a:ext>
                </a:extLst>
              </a:tr>
              <a:tr h="70797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200" dirty="0">
                          <a:effectLst/>
                        </a:rPr>
                        <a:t>TOTAL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El 30% ganancia y el tiempo estimado para la ejecución del proyecto.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71123" marT="94831" marB="9483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</a:rPr>
                        <a:t>$1.500.000 ARS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123" marR="0" marT="94831" marB="94831" anchor="ctr"/>
                </a:tc>
                <a:extLst>
                  <a:ext uri="{0D108BD9-81ED-4DB2-BD59-A6C34878D82A}">
                    <a16:rowId xmlns:a16="http://schemas.microsoft.com/office/drawing/2014/main" val="102018972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63008" y="-1758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300" b="0" i="0" u="none" strike="noStrike" cap="none" normalizeH="0" baseline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Conector recto 8"/>
          <p:cNvCxnSpPr/>
          <p:nvPr/>
        </p:nvCxnSpPr>
        <p:spPr>
          <a:xfrm flipV="1">
            <a:off x="838200" y="1454122"/>
            <a:ext cx="9156192" cy="1114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918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0" y="-29552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7843"/>
            <a:ext cx="10515600" cy="1325563"/>
          </a:xfrm>
        </p:spPr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Hitos claves y Diagrama Gantt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507523" cy="4351338"/>
          </a:xfrm>
        </p:spPr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Hito 1: Base de Datos Estructurada y Validada.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Hito 2: Interfaz de Usuario y Motor de Búsqueda Operativo. 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Hito 3: Pruebas de Entorno Real y Entrega Final. 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722" y="1343406"/>
            <a:ext cx="6449595" cy="4833557"/>
          </a:xfrm>
          <a:prstGeom prst="rect">
            <a:avLst/>
          </a:prstGeom>
        </p:spPr>
      </p:pic>
      <p:cxnSp>
        <p:nvCxnSpPr>
          <p:cNvPr id="7" name="Conector recto 6"/>
          <p:cNvCxnSpPr/>
          <p:nvPr/>
        </p:nvCxnSpPr>
        <p:spPr>
          <a:xfrm flipV="1">
            <a:off x="838200" y="1063151"/>
            <a:ext cx="9193823" cy="814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954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546</Words>
  <Application>Microsoft Office PowerPoint</Application>
  <PresentationFormat>Panorámica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Tema de Office</vt:lpstr>
      <vt:lpstr>Sistema de Registro para Emisión de Certificados de Alumno Regular</vt:lpstr>
      <vt:lpstr>Contexto del Proyecto </vt:lpstr>
      <vt:lpstr>Objetivos</vt:lpstr>
      <vt:lpstr>Límite del programa</vt:lpstr>
      <vt:lpstr>Evaluación de Viabilidad Técnica y Arquitectura del Sistema</vt:lpstr>
      <vt:lpstr>Análisis de Viabilidad Operativa</vt:lpstr>
      <vt:lpstr>Estudio de Factibilidad</vt:lpstr>
      <vt:lpstr>Beneficios</vt:lpstr>
      <vt:lpstr>Presupuesto</vt:lpstr>
      <vt:lpstr>Hitos claves y Diagrama Gantt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Registro para Emisión de Certificados de Alumno Regular</dc:title>
  <dc:creator>Usuario</dc:creator>
  <cp:lastModifiedBy>Usuario</cp:lastModifiedBy>
  <cp:revision>20</cp:revision>
  <dcterms:created xsi:type="dcterms:W3CDTF">2026-06-10T16:04:47Z</dcterms:created>
  <dcterms:modified xsi:type="dcterms:W3CDTF">2026-06-24T18:35:34Z</dcterms:modified>
</cp:coreProperties>
</file>